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78" r:id="rId5"/>
    <p:sldId id="279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6858000" cy="12192000"/>
  <p:embeddedFontLst>
    <p:embeddedFont>
      <p:font typeface="MiSans" pitchFamily="34" charset="-122"/>
      <p:regular r:id="rId31"/>
    </p:embeddedFont>
    <p:embeddedFont>
      <p:font typeface="MiSans" pitchFamily="34" charset="-120"/>
      <p:regular r:id="rId32"/>
    </p:embeddedFont>
    <p:embeddedFont>
      <p:font typeface="Calibri" panose="020F0502020204030204" charset="0"/>
      <p:regular r:id="rId33"/>
      <p:bold r:id="rId34"/>
      <p:italic r:id="rId35"/>
      <p:boldItalic r:id="rId3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font" Target="fonts/font6.fntdata"/><Relationship Id="rId35" Type="http://schemas.openxmlformats.org/officeDocument/2006/relationships/font" Target="fonts/font5.fntdata"/><Relationship Id="rId34" Type="http://schemas.openxmlformats.org/officeDocument/2006/relationships/font" Target="fonts/font4.fntdata"/><Relationship Id="rId33" Type="http://schemas.openxmlformats.org/officeDocument/2006/relationships/font" Target="fonts/font3.fntdata"/><Relationship Id="rId32" Type="http://schemas.openxmlformats.org/officeDocument/2006/relationships/font" Target="fonts/font2.fntdata"/><Relationship Id="rId31" Type="http://schemas.openxmlformats.org/officeDocument/2006/relationships/font" Target="fonts/font1.fntdata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4.png"/><Relationship Id="rId3" Type="http://schemas.openxmlformats.org/officeDocument/2006/relationships/image" Target="../media/image15.jpe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23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s0.jpg"/>
          <p:cNvPicPr>
            <a:picLocks noChangeAspect="1"/>
          </p:cNvPicPr>
          <p:nvPr/>
        </p:nvPicPr>
        <p:blipFill>
          <a:blip r:embed="rId1"/>
          <a:srcRect l="2846" t="2254" r="3013" b="8961"/>
          <a:stretch>
            <a:fillRect/>
          </a:stretch>
        </p:blipFill>
        <p:spPr>
          <a:xfrm rot="21600000">
            <a:off x="-2159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0585" y="1882140"/>
            <a:ext cx="7750810" cy="21304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5皇后回溯全景：解空间树与剪枝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3490595" y="4424045"/>
            <a:ext cx="2311400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</p:spPr>
      </p:sp>
      <p:sp>
        <p:nvSpPr>
          <p:cNvPr id="5" name="Text 2"/>
          <p:cNvSpPr/>
          <p:nvPr/>
        </p:nvSpPr>
        <p:spPr>
          <a:xfrm>
            <a:off x="3490595" y="4424045"/>
            <a:ext cx="2311400" cy="502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55670" y="4476115"/>
            <a:ext cx="2385695" cy="3034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汇报人:Kimi AI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46165" y="4424045"/>
            <a:ext cx="2311400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</p:spPr>
      </p:sp>
      <p:sp>
        <p:nvSpPr>
          <p:cNvPr id="8" name="Text 5"/>
          <p:cNvSpPr/>
          <p:nvPr/>
        </p:nvSpPr>
        <p:spPr>
          <a:xfrm>
            <a:off x="6146165" y="4424045"/>
            <a:ext cx="2311400" cy="502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11240" y="4476115"/>
            <a:ext cx="2385695" cy="3034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时间:2025/01/01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93745" y="472817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</p:spPr>
      </p:sp>
      <p:sp>
        <p:nvSpPr>
          <p:cNvPr id="11" name="Text 8"/>
          <p:cNvSpPr/>
          <p:nvPr/>
        </p:nvSpPr>
        <p:spPr>
          <a:xfrm>
            <a:off x="893745" y="472817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230150" y="156968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015DBB"/>
          </a:solidFill>
        </p:spPr>
      </p:sp>
      <p:sp>
        <p:nvSpPr>
          <p:cNvPr id="13" name="Text 10"/>
          <p:cNvSpPr/>
          <p:nvPr/>
        </p:nvSpPr>
        <p:spPr>
          <a:xfrm>
            <a:off x="10230150" y="156968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1" descr="https://kimi-img.moonshot.cn/pub/slides/slides_tmpl/image/25-09-08-12:55:40-d2v63j5nfo2stf9dk4m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835" y="4125595"/>
            <a:ext cx="6468110" cy="298450"/>
          </a:xfrm>
          <a:prstGeom prst="rect">
            <a:avLst/>
          </a:prstGeom>
        </p:spPr>
      </p:pic>
      <p:pic>
        <p:nvPicPr>
          <p:cNvPr id="15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>
            <a:alphaModFix amt="25000"/>
          </a:blip>
          <a:srcRect t="22162"/>
          <a:stretch>
            <a:fillRect/>
          </a:stretch>
        </p:blipFill>
        <p:spPr>
          <a:xfrm>
            <a:off x="777875" y="2787650"/>
            <a:ext cx="2311400" cy="18002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9525"/>
            <a:ext cx="4655820" cy="68935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820" y="0"/>
            <a:ext cx="4084320" cy="68472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140" y="0"/>
            <a:ext cx="34861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8235" y="647700"/>
            <a:ext cx="6924675" cy="92202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1118235" y="647700"/>
            <a:ext cx="6924675" cy="92202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/CONTENTS</a:t>
            </a:r>
            <a:endParaRPr lang="en-US" sz="1600" dirty="0"/>
          </a:p>
        </p:txBody>
      </p:sp>
      <p:pic>
        <p:nvPicPr>
          <p:cNvPr id="4" name="Image 0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1"/>
          <a:srcRect t="22162"/>
          <a:stretch>
            <a:fillRect/>
          </a:stretch>
        </p:blipFill>
        <p:spPr>
          <a:xfrm>
            <a:off x="7494905" y="2640330"/>
            <a:ext cx="4050665" cy="3154045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 flipH="1" flipV="1">
            <a:off x="9610725" y="723265"/>
            <a:ext cx="1656080" cy="133286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1911985"/>
            <a:ext cx="361315" cy="291465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616200"/>
            <a:ext cx="361315" cy="291465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308985"/>
            <a:ext cx="361315" cy="291465"/>
          </a:xfrm>
          <a:prstGeom prst="rect">
            <a:avLst/>
          </a:prstGeom>
        </p:spPr>
      </p:pic>
      <p:pic>
        <p:nvPicPr>
          <p:cNvPr id="10" name="Image 6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4028440"/>
            <a:ext cx="361315" cy="291465"/>
          </a:xfrm>
          <a:prstGeom prst="rect">
            <a:avLst/>
          </a:prstGeom>
        </p:spPr>
      </p:pic>
      <p:pic>
        <p:nvPicPr>
          <p:cNvPr id="11" name="Image 7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4698365"/>
            <a:ext cx="361315" cy="291465"/>
          </a:xfrm>
          <a:prstGeom prst="rect">
            <a:avLst/>
          </a:prstGeom>
        </p:spPr>
      </p:pic>
      <p:pic>
        <p:nvPicPr>
          <p:cNvPr id="12" name="Image 8" descr="https://kimi-img.moonshot.cn/pub/slides/slides_tmpl/image/25-09-08-12:55:41-d2v63jdnfo2stf9dk4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5403850"/>
            <a:ext cx="361315" cy="291465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1202055" y="1777365"/>
            <a:ext cx="780415" cy="4875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3"/>
          <p:cNvSpPr/>
          <p:nvPr/>
        </p:nvSpPr>
        <p:spPr>
          <a:xfrm>
            <a:off x="2156460" y="1837055"/>
            <a:ext cx="6160135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问题与约束</a:t>
            </a:r>
            <a:endParaRPr lang="en-US" sz="1600" dirty="0"/>
          </a:p>
        </p:txBody>
      </p:sp>
      <p:sp>
        <p:nvSpPr>
          <p:cNvPr id="15" name="Text 4"/>
          <p:cNvSpPr/>
          <p:nvPr/>
        </p:nvSpPr>
        <p:spPr>
          <a:xfrm>
            <a:off x="1202055" y="2470150"/>
            <a:ext cx="818515" cy="4875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5"/>
          <p:cNvSpPr/>
          <p:nvPr/>
        </p:nvSpPr>
        <p:spPr>
          <a:xfrm>
            <a:off x="2156460" y="2528570"/>
            <a:ext cx="6160135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回溯框架</a:t>
            </a:r>
            <a:endParaRPr lang="en-US" sz="1600" dirty="0"/>
          </a:p>
        </p:txBody>
      </p:sp>
      <p:sp>
        <p:nvSpPr>
          <p:cNvPr id="17" name="Text 6"/>
          <p:cNvSpPr/>
          <p:nvPr/>
        </p:nvSpPr>
        <p:spPr>
          <a:xfrm>
            <a:off x="1202055" y="3162935"/>
            <a:ext cx="818515" cy="4875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7"/>
          <p:cNvSpPr/>
          <p:nvPr/>
        </p:nvSpPr>
        <p:spPr>
          <a:xfrm>
            <a:off x="2156460" y="3221355"/>
            <a:ext cx="6160135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剪枝机制</a:t>
            </a:r>
            <a:endParaRPr lang="en-US" sz="1600" dirty="0"/>
          </a:p>
        </p:txBody>
      </p:sp>
      <p:sp>
        <p:nvSpPr>
          <p:cNvPr id="19" name="Text 8"/>
          <p:cNvSpPr/>
          <p:nvPr/>
        </p:nvSpPr>
        <p:spPr>
          <a:xfrm>
            <a:off x="1202055" y="3855720"/>
            <a:ext cx="818515" cy="4875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9"/>
          <p:cNvSpPr/>
          <p:nvPr/>
        </p:nvSpPr>
        <p:spPr>
          <a:xfrm>
            <a:off x="2156460" y="3914140"/>
            <a:ext cx="6160135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解空间树图示</a:t>
            </a:r>
            <a:endParaRPr lang="en-US" sz="1600" dirty="0"/>
          </a:p>
        </p:txBody>
      </p:sp>
      <p:sp>
        <p:nvSpPr>
          <p:cNvPr id="21" name="Text 10"/>
          <p:cNvSpPr/>
          <p:nvPr/>
        </p:nvSpPr>
        <p:spPr>
          <a:xfrm>
            <a:off x="1202055" y="4548505"/>
            <a:ext cx="818515" cy="4875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11"/>
          <p:cNvSpPr/>
          <p:nvPr/>
        </p:nvSpPr>
        <p:spPr>
          <a:xfrm>
            <a:off x="2156460" y="4600575"/>
            <a:ext cx="6160135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十大解展示</a:t>
            </a:r>
            <a:endParaRPr lang="en-US" sz="1600" dirty="0"/>
          </a:p>
        </p:txBody>
      </p:sp>
      <p:sp>
        <p:nvSpPr>
          <p:cNvPr id="23" name="Text 12"/>
          <p:cNvSpPr/>
          <p:nvPr/>
        </p:nvSpPr>
        <p:spPr>
          <a:xfrm>
            <a:off x="1202055" y="5241290"/>
            <a:ext cx="818515" cy="4875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24" name="Text 13"/>
          <p:cNvSpPr/>
          <p:nvPr/>
        </p:nvSpPr>
        <p:spPr>
          <a:xfrm>
            <a:off x="2156460" y="5287010"/>
            <a:ext cx="6160135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复杂度与应用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7366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问题与约束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3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2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490" y="1475105"/>
            <a:ext cx="3524250" cy="2437765"/>
          </a:xfrm>
          <a:prstGeom prst="rect">
            <a:avLst/>
          </a:prstGeom>
          <a:solidFill>
            <a:srgbClr val="015DBB"/>
          </a:solidFill>
        </p:spPr>
      </p:sp>
      <p:sp>
        <p:nvSpPr>
          <p:cNvPr id="3" name="Text 1"/>
          <p:cNvSpPr/>
          <p:nvPr/>
        </p:nvSpPr>
        <p:spPr>
          <a:xfrm>
            <a:off x="745490" y="1475105"/>
            <a:ext cx="3524250" cy="24377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8-12:56:03-d2v63otnfo2stf9dk570.jpeg"/>
          <p:cNvPicPr>
            <a:picLocks noChangeAspect="1"/>
          </p:cNvPicPr>
          <p:nvPr/>
        </p:nvPicPr>
        <p:blipFill>
          <a:blip r:embed="rId1"/>
          <a:srcRect l="-8" t="512" r="8" b="512"/>
          <a:stretch>
            <a:fillRect/>
          </a:stretch>
        </p:blipFill>
        <p:spPr>
          <a:xfrm>
            <a:off x="745490" y="3977005"/>
            <a:ext cx="3524885" cy="23431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35290" y="1475105"/>
            <a:ext cx="3524250" cy="2437765"/>
          </a:xfrm>
          <a:prstGeom prst="rect">
            <a:avLst/>
          </a:prstGeom>
          <a:solidFill>
            <a:srgbClr val="015DBB"/>
          </a:solidFill>
        </p:spPr>
      </p:sp>
      <p:sp>
        <p:nvSpPr>
          <p:cNvPr id="6" name="Text 3"/>
          <p:cNvSpPr/>
          <p:nvPr/>
        </p:nvSpPr>
        <p:spPr>
          <a:xfrm>
            <a:off x="8035290" y="1475105"/>
            <a:ext cx="3524250" cy="24377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7" name="Image 1" descr="https://kimi-img.moonshot.cn/pub/slides/slides_tmpl/image/25-09-08-12:56:00-d2v63o5nfo2stf9dk550.png"/>
          <p:cNvPicPr>
            <a:picLocks noChangeAspect="1"/>
          </p:cNvPicPr>
          <p:nvPr/>
        </p:nvPicPr>
        <p:blipFill>
          <a:blip r:embed="rId2"/>
          <a:srcRect l="-8" t="24" r="8" b="24"/>
          <a:stretch>
            <a:fillRect/>
          </a:stretch>
        </p:blipFill>
        <p:spPr>
          <a:xfrm>
            <a:off x="8035290" y="3977005"/>
            <a:ext cx="3524885" cy="234315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90390" y="3882390"/>
            <a:ext cx="3524250" cy="2437765"/>
          </a:xfrm>
          <a:prstGeom prst="rect">
            <a:avLst/>
          </a:prstGeom>
          <a:solidFill>
            <a:srgbClr val="015DBB"/>
          </a:solidFill>
        </p:spPr>
      </p:sp>
      <p:sp>
        <p:nvSpPr>
          <p:cNvPr id="9" name="Text 5"/>
          <p:cNvSpPr/>
          <p:nvPr/>
        </p:nvSpPr>
        <p:spPr>
          <a:xfrm>
            <a:off x="4390390" y="3882390"/>
            <a:ext cx="3524250" cy="24377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0" name="Image 2" descr="https://kimi-img.moonshot.cn/pub/slides/slides_tmpl/image/25-09-08-12:55:47-d2v63ktnfo2stf9dk4v0.jpeg"/>
          <p:cNvPicPr>
            <a:picLocks noChangeAspect="1"/>
          </p:cNvPicPr>
          <p:nvPr/>
        </p:nvPicPr>
        <p:blipFill>
          <a:blip r:embed="rId3"/>
          <a:srcRect l="7696" r="7696"/>
          <a:stretch>
            <a:fillRect/>
          </a:stretch>
        </p:blipFill>
        <p:spPr>
          <a:xfrm>
            <a:off x="4390390" y="1475105"/>
            <a:ext cx="3524885" cy="23431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5630" y="525145"/>
            <a:ext cx="7004685" cy="5625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5皇后问题定义与攻击约束</a:t>
            </a:r>
            <a:endParaRPr lang="en-US" sz="1600" dirty="0"/>
          </a:p>
        </p:txBody>
      </p:sp>
      <p:pic>
        <p:nvPicPr>
          <p:cNvPr id="12" name="Image 3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4725" y="1602740"/>
            <a:ext cx="3219450" cy="2762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问题定义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974725" y="1957070"/>
            <a:ext cx="3140710" cy="176212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5皇后问题是在5×5的棋盘上放置5个皇后，使得任意两个皇后都不能相互攻击。皇后可以攻击同一行、同一列以及同一对角线上的其他皇后。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8202930" y="1602740"/>
            <a:ext cx="314134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攻击规则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8218170" y="1957070"/>
            <a:ext cx="3220085" cy="171069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皇后在同一行、同一列或同一对角线上时，视为相互攻击。对角线包括主对角线和副对角线，分别对应行列差和行列和为常数的情况。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4542950" y="4010025"/>
            <a:ext cx="3141621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542950" y="4364355"/>
            <a:ext cx="3219746" cy="17964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目标是找到所有可能的放置方式，使得5个皇后互不攻击。这需要通过回溯算法来逐步探索解空间，并利用剪枝函数来减少不必要的搜索。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19755" y="1664335"/>
            <a:ext cx="8328025" cy="2134870"/>
          </a:xfrm>
          <a:prstGeom prst="rect">
            <a:avLst/>
          </a:prstGeom>
          <a:solidFill>
            <a:srgbClr val="015DBB"/>
          </a:solidFill>
        </p:spPr>
      </p:sp>
      <p:sp>
        <p:nvSpPr>
          <p:cNvPr id="3" name="Text 1"/>
          <p:cNvSpPr/>
          <p:nvPr/>
        </p:nvSpPr>
        <p:spPr>
          <a:xfrm>
            <a:off x="3119755" y="1664335"/>
            <a:ext cx="8328025" cy="21348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9-08-12:55:47-d2v63ktnfo2stf9dk500.jpeg"/>
          <p:cNvPicPr>
            <a:picLocks noChangeAspect="1"/>
          </p:cNvPicPr>
          <p:nvPr/>
        </p:nvPicPr>
        <p:blipFill>
          <a:blip r:embed="rId1"/>
          <a:srcRect l="14345" r="14345"/>
          <a:stretch>
            <a:fillRect/>
          </a:stretch>
        </p:blipFill>
        <p:spPr>
          <a:xfrm>
            <a:off x="745490" y="1664335"/>
            <a:ext cx="2282825" cy="2133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flipH="1">
            <a:off x="744855" y="3976370"/>
            <a:ext cx="8328025" cy="2134870"/>
          </a:xfrm>
          <a:prstGeom prst="rect">
            <a:avLst/>
          </a:prstGeom>
          <a:solidFill>
            <a:srgbClr val="015DBB"/>
          </a:solidFill>
        </p:spPr>
      </p:sp>
      <p:sp>
        <p:nvSpPr>
          <p:cNvPr id="6" name="Text 3"/>
          <p:cNvSpPr/>
          <p:nvPr/>
        </p:nvSpPr>
        <p:spPr>
          <a:xfrm>
            <a:off x="744855" y="3976370"/>
            <a:ext cx="8328025" cy="21348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7" name="Image 1" descr="https://kimi-img.moonshot.cn/pub/slides/slides_tmpl/image/25-09-08-12:55:48-d2v63l5nfo2stf9dk510.png"/>
          <p:cNvPicPr>
            <a:picLocks noChangeAspect="1"/>
          </p:cNvPicPr>
          <p:nvPr/>
        </p:nvPicPr>
        <p:blipFill>
          <a:blip r:embed="rId2"/>
          <a:srcRect t="83" b="83"/>
          <a:stretch>
            <a:fillRect/>
          </a:stretch>
        </p:blipFill>
        <p:spPr>
          <a:xfrm>
            <a:off x="9164320" y="3976370"/>
            <a:ext cx="2282825" cy="2133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5630" y="487045"/>
            <a:ext cx="700468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冲突检测的布尔逻辑</a:t>
            </a:r>
            <a:endParaRPr lang="en-US" sz="1600" dirty="0"/>
          </a:p>
        </p:txBody>
      </p:sp>
      <p:pic>
        <p:nvPicPr>
          <p:cNvPr id="9" name="Image 2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08045" y="1944370"/>
            <a:ext cx="766445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冲突检测逻辑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3408045" y="2394585"/>
            <a:ext cx="7663180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冲突检测逻辑基于四个条件：同行、同列、主对角线（行列差为常数）和副对角线（行列和为常数）。只要满足其中一个条件，即判定为冲突。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121410" y="4256405"/>
            <a:ext cx="766440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isSafe函数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121410" y="4706620"/>
            <a:ext cx="7754620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isSafe函数封装了冲突检测逻辑，用于判断在某个位置放置皇后是否安全。该函数返回布尔值，为后续的剪枝操作提供了依据。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回溯框架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2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5390" y="1849120"/>
            <a:ext cx="4457065" cy="18478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15390" y="1849120"/>
            <a:ext cx="4457065" cy="18478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739265" y="1630680"/>
            <a:ext cx="3409950" cy="369570"/>
          </a:xfrm>
          <a:prstGeom prst="roundRect">
            <a:avLst/>
          </a:prstGeom>
          <a:solidFill>
            <a:srgbClr val="015DBB"/>
          </a:solidFill>
        </p:spPr>
      </p:sp>
      <p:sp>
        <p:nvSpPr>
          <p:cNvPr id="5" name="Text 3"/>
          <p:cNvSpPr/>
          <p:nvPr/>
        </p:nvSpPr>
        <p:spPr>
          <a:xfrm>
            <a:off x="1739265" y="1630680"/>
            <a:ext cx="3409950" cy="369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58890" y="1849120"/>
            <a:ext cx="4457065" cy="18478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8890" y="1849120"/>
            <a:ext cx="4457065" cy="18478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82765" y="1630680"/>
            <a:ext cx="3409950" cy="369570"/>
          </a:xfrm>
          <a:prstGeom prst="roundRect">
            <a:avLst/>
          </a:prstGeom>
          <a:solidFill>
            <a:srgbClr val="015DBB"/>
          </a:solidFill>
        </p:spPr>
      </p:sp>
      <p:sp>
        <p:nvSpPr>
          <p:cNvPr id="9" name="Text 7"/>
          <p:cNvSpPr/>
          <p:nvPr/>
        </p:nvSpPr>
        <p:spPr>
          <a:xfrm>
            <a:off x="6882765" y="1630680"/>
            <a:ext cx="3409950" cy="369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64920" y="4262120"/>
            <a:ext cx="4290060" cy="18478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4920" y="4262120"/>
            <a:ext cx="4290060" cy="18478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39265" y="4043877"/>
            <a:ext cx="3409950" cy="369373"/>
          </a:xfrm>
          <a:prstGeom prst="roundRect">
            <a:avLst/>
          </a:prstGeom>
          <a:solidFill>
            <a:srgbClr val="015DBB"/>
          </a:solidFill>
        </p:spPr>
      </p:sp>
      <p:sp>
        <p:nvSpPr>
          <p:cNvPr id="13" name="Text 11"/>
          <p:cNvSpPr/>
          <p:nvPr/>
        </p:nvSpPr>
        <p:spPr>
          <a:xfrm>
            <a:off x="1739265" y="4043877"/>
            <a:ext cx="3409950" cy="36937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21120" y="4262120"/>
            <a:ext cx="4290060" cy="18478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9050">
            <a:solidFill>
              <a:srgbClr val="015D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1120" y="4262120"/>
            <a:ext cx="4290060" cy="18478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95465" y="4043877"/>
            <a:ext cx="3409950" cy="369373"/>
          </a:xfrm>
          <a:prstGeom prst="roundRect">
            <a:avLst/>
          </a:prstGeom>
          <a:solidFill>
            <a:srgbClr val="015DBB"/>
          </a:solidFill>
        </p:spPr>
      </p:sp>
      <p:sp>
        <p:nvSpPr>
          <p:cNvPr id="17" name="Text 15"/>
          <p:cNvSpPr/>
          <p:nvPr/>
        </p:nvSpPr>
        <p:spPr>
          <a:xfrm>
            <a:off x="6895465" y="4043877"/>
            <a:ext cx="3409950" cy="36937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5630" y="551815"/>
            <a:ext cx="700468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递归回溯算法流程</a:t>
            </a:r>
            <a:endParaRPr lang="en-US" sz="1600" dirty="0"/>
          </a:p>
        </p:txBody>
      </p:sp>
      <p:pic>
        <p:nvPicPr>
          <p:cNvPr id="19" name="Image 0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502603"/>
            <a:ext cx="579755" cy="65214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817370" y="1623695"/>
            <a:ext cx="322199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算法起点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39215" y="2143125"/>
            <a:ext cx="4218305" cy="13830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算法从第0行开始，逐列尝试放置皇后。每次放置后，都会检查该位置是否安全。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817666" y="4036695"/>
            <a:ext cx="3222278" cy="3683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递归深入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303479" y="4556125"/>
            <a:ext cx="4218048" cy="13830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如果当前位置安全，则递归进入下一行，继续尝试放置皇后。这一过程不断重复，直到所有皇后都放置完毕。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960870" y="1623695"/>
            <a:ext cx="322199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回溯机制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59855" y="2143125"/>
            <a:ext cx="4218305" cy="13830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如果在某一行的所有列都无法放置皇后，则会回溯到上一行，尝试其他列。这一机制确保了算法能够找到所有可能的解。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973866" y="4036695"/>
            <a:ext cx="3222278" cy="3683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终止条件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459679" y="4556125"/>
            <a:ext cx="4184851" cy="13830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当所有皇后都成功放置且互不攻击时，找到一个解。算法会继续搜索，直到所有可能的路径都被探索完毕。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3-d2v63jtnfo2stf9dk4t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3345" y="1528445"/>
            <a:ext cx="5260975" cy="34518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V="1">
            <a:off x="205998" y="5200433"/>
            <a:ext cx="6159468" cy="1255846"/>
          </a:xfrm>
          <a:prstGeom prst="ellipse">
            <a:avLst/>
          </a:prstGeom>
          <a:solidFill>
            <a:srgbClr val="FBFBFB">
              <a:alpha val="12941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205998" y="5200433"/>
            <a:ext cx="6159468" cy="125584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 flipV="1">
            <a:off x="1916862" y="5436404"/>
            <a:ext cx="2737740" cy="406066"/>
          </a:xfrm>
          <a:prstGeom prst="ellipse">
            <a:avLst/>
          </a:prstGeom>
          <a:solidFill>
            <a:srgbClr val="FBFBFB">
              <a:alpha val="7098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1916862" y="5436404"/>
            <a:ext cx="2737740" cy="40606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7" name="Image 1" descr="https://kimi-img.moonshot.cn/pub/slides/slides_tmpl/image/25-09-08-12:55:43-d2v63jtnfo2stf9dk4u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70" y="1601470"/>
            <a:ext cx="5102860" cy="4211320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8-12:55:47-d2v63ktnfo2stf9dk500.jpeg"/>
          <p:cNvPicPr>
            <a:picLocks noChangeAspect="1"/>
          </p:cNvPicPr>
          <p:nvPr/>
        </p:nvPicPr>
        <p:blipFill>
          <a:blip r:embed="rId3"/>
          <a:srcRect t="7792" b="7792"/>
          <a:stretch>
            <a:fillRect/>
          </a:stretch>
        </p:blipFill>
        <p:spPr>
          <a:xfrm>
            <a:off x="1002665" y="1968500"/>
            <a:ext cx="4572000" cy="257238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5630" y="487045"/>
            <a:ext cx="700468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解空间树的结构</a:t>
            </a:r>
            <a:endParaRPr lang="en-US" sz="1600" dirty="0"/>
          </a:p>
        </p:txBody>
      </p:sp>
      <p:pic>
        <p:nvPicPr>
          <p:cNvPr id="10" name="Image 3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12155"/>
            <a:ext cx="12192635" cy="104584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670405" y="1933575"/>
            <a:ext cx="478028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解空间树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6683058" y="2638425"/>
            <a:ext cx="4871887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解空间树是一个多叉树，每一层代表一行，每个节点代表在该行的某一列放置皇后。树的深度为5，因为有5行。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剪枝机制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2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6:02-d2v63olnfo2stf9dk56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" y="1923415"/>
            <a:ext cx="3718560" cy="37185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47110" y="1637030"/>
            <a:ext cx="913130" cy="913130"/>
          </a:xfrm>
          <a:prstGeom prst="ellipse">
            <a:avLst/>
          </a:prstGeom>
          <a:solidFill>
            <a:srgbClr val="015DBB"/>
          </a:solidFill>
        </p:spPr>
      </p:sp>
      <p:sp>
        <p:nvSpPr>
          <p:cNvPr id="4" name="Text 1"/>
          <p:cNvSpPr/>
          <p:nvPr/>
        </p:nvSpPr>
        <p:spPr>
          <a:xfrm>
            <a:off x="3547110" y="1637030"/>
            <a:ext cx="913130" cy="913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036060" y="3326130"/>
            <a:ext cx="913130" cy="913130"/>
          </a:xfrm>
          <a:prstGeom prst="ellipse">
            <a:avLst/>
          </a:prstGeom>
          <a:solidFill>
            <a:srgbClr val="015DBB"/>
          </a:solidFill>
        </p:spPr>
      </p:sp>
      <p:sp>
        <p:nvSpPr>
          <p:cNvPr id="6" name="Text 3"/>
          <p:cNvSpPr/>
          <p:nvPr/>
        </p:nvSpPr>
        <p:spPr>
          <a:xfrm>
            <a:off x="4036060" y="3326130"/>
            <a:ext cx="913130" cy="913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547110" y="5015230"/>
            <a:ext cx="913130" cy="913130"/>
          </a:xfrm>
          <a:prstGeom prst="ellipse">
            <a:avLst/>
          </a:prstGeom>
          <a:solidFill>
            <a:srgbClr val="015DBB"/>
          </a:solidFill>
        </p:spPr>
      </p:sp>
      <p:sp>
        <p:nvSpPr>
          <p:cNvPr id="8" name="Text 5"/>
          <p:cNvSpPr/>
          <p:nvPr/>
        </p:nvSpPr>
        <p:spPr>
          <a:xfrm>
            <a:off x="3547110" y="5015230"/>
            <a:ext cx="913130" cy="9131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5630" y="525145"/>
            <a:ext cx="700468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isSafe剪枝原理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9-08-12:56:04-d2v63p5nfo2stf9dk58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75" y="2012315"/>
            <a:ext cx="3340735" cy="348107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71875" y="1804670"/>
            <a:ext cx="863600" cy="5397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516120" y="1638935"/>
            <a:ext cx="665162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剪枝条件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516120" y="2012315"/>
            <a:ext cx="6848475" cy="9296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isSafe函数通过检测同行、同列和对角线冲突来决定是否剪枝。如果当前位置会导致冲突，则剪掉该分支，避免无效搜索。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060825" y="3493770"/>
            <a:ext cx="863600" cy="5397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005070" y="3328035"/>
            <a:ext cx="665162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剪枝效果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005070" y="3701415"/>
            <a:ext cx="6795770" cy="9296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剪枝显著减少了需要探索的节点数量。通过提前终止无望的分支，算法能够更快地找到所有解。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571875" y="5182870"/>
            <a:ext cx="863600" cy="5397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16120" y="5017135"/>
            <a:ext cx="665162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剪枝示例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516120" y="5390515"/>
            <a:ext cx="6978650" cy="9296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例如，在某一行的某一列放置皇后后，发现与之前放置的皇后冲突，则剪掉该列的所有子分支，直接尝试下一列。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50-d2v63llnfo2stf9dk52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410" y="1814830"/>
            <a:ext cx="4900930" cy="42246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5630" y="525145"/>
            <a:ext cx="700468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剪枝效果量化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8-12:55:50-d2v63llnfo2stf9dk52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8090" y="1814830"/>
            <a:ext cx="4900930" cy="422465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282065" y="2446020"/>
            <a:ext cx="424307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剪枝率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1281430" y="3121660"/>
            <a:ext cx="4072255" cy="23069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剪枝率超过90%，大大减少了需要访问的节点数量。这使得算法从指数级复杂度降低到阶乘级复杂度。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6722745" y="2446020"/>
            <a:ext cx="424307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性能提升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722110" y="3121660"/>
            <a:ext cx="4072255" cy="23069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剪枝机制显著提升了算法的性能，使得在较短时间内能够找到所有解，为解决更大规模的N皇后问题提供了可能。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解空间树图示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2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1240" y="1827530"/>
            <a:ext cx="19050" cy="4343400"/>
          </a:xfrm>
          <a:prstGeom prst="line">
            <a:avLst/>
          </a:prstGeom>
          <a:noFill/>
          <a:ln w="12700">
            <a:solidFill>
              <a:srgbClr val="404040"/>
            </a:solidFill>
            <a:prstDash val="dash"/>
            <a:headEnd type="none"/>
            <a:tailEnd type="none"/>
          </a:ln>
        </p:spPr>
      </p:sp>
      <p:pic>
        <p:nvPicPr>
          <p:cNvPr id="3" name="Image 0" descr="https://kimi-img.moonshot.cn/pub/slides/slides_tmpl/image/25-09-08-12:55:59-d2v63ntnfo2stf9dk54g.jpeg"/>
          <p:cNvPicPr>
            <a:picLocks noChangeAspect="1"/>
          </p:cNvPicPr>
          <p:nvPr/>
        </p:nvPicPr>
        <p:blipFill>
          <a:blip r:embed="rId1"/>
          <a:srcRect l="27870" r="27870"/>
          <a:stretch>
            <a:fillRect/>
          </a:stretch>
        </p:blipFill>
        <p:spPr>
          <a:xfrm>
            <a:off x="7637145" y="0"/>
            <a:ext cx="455485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7890" y="1560830"/>
            <a:ext cx="266700" cy="266700"/>
          </a:xfrm>
          <a:prstGeom prst="ellipse">
            <a:avLst/>
          </a:prstGeom>
          <a:solidFill>
            <a:srgbClr val="015DBB"/>
          </a:solidFill>
        </p:spPr>
      </p:sp>
      <p:sp>
        <p:nvSpPr>
          <p:cNvPr id="5" name="Text 2"/>
          <p:cNvSpPr/>
          <p:nvPr/>
        </p:nvSpPr>
        <p:spPr>
          <a:xfrm>
            <a:off x="897890" y="1560830"/>
            <a:ext cx="266700" cy="2667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97890" y="3202305"/>
            <a:ext cx="266700" cy="266700"/>
          </a:xfrm>
          <a:prstGeom prst="ellipse">
            <a:avLst/>
          </a:prstGeom>
          <a:solidFill>
            <a:srgbClr val="015DBB"/>
          </a:solidFill>
        </p:spPr>
      </p:sp>
      <p:sp>
        <p:nvSpPr>
          <p:cNvPr id="7" name="Text 4"/>
          <p:cNvSpPr/>
          <p:nvPr/>
        </p:nvSpPr>
        <p:spPr>
          <a:xfrm>
            <a:off x="897890" y="3202305"/>
            <a:ext cx="266700" cy="2667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97890" y="4843780"/>
            <a:ext cx="266700" cy="266700"/>
          </a:xfrm>
          <a:prstGeom prst="ellipse">
            <a:avLst/>
          </a:prstGeom>
          <a:solidFill>
            <a:srgbClr val="015DBB"/>
          </a:solidFill>
        </p:spPr>
      </p:sp>
      <p:sp>
        <p:nvSpPr>
          <p:cNvPr id="9" name="Text 6"/>
          <p:cNvSpPr/>
          <p:nvPr/>
        </p:nvSpPr>
        <p:spPr>
          <a:xfrm>
            <a:off x="897890" y="4843780"/>
            <a:ext cx="266700" cy="2667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5630" y="525145"/>
            <a:ext cx="700468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树形展开与路径标注</a:t>
            </a:r>
            <a:endParaRPr lang="en-US" sz="1600" dirty="0"/>
          </a:p>
        </p:txBody>
      </p:sp>
      <p:pic>
        <p:nvPicPr>
          <p:cNvPr id="11" name="Image 1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6670" y="1524635"/>
            <a:ext cx="57759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树形展开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296670" y="1859915"/>
            <a:ext cx="5775960" cy="9531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绘制解空间树的前两层，展示每行的列选择分支。用不同线型区分已剪枝和待扩展的节点。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296670" y="3166110"/>
            <a:ext cx="57759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路径标注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296670" y="3501390"/>
            <a:ext cx="5775960" cy="9531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标注从根节点到当前节点的路径，记录每步的列选择。这有助于理解搜索的顺序和回溯的过程。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296670" y="4807585"/>
            <a:ext cx="577596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可视化效果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296670" y="5142865"/>
            <a:ext cx="5775960" cy="9531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通过可视化解空间树，可以直观地看到剪枝的效果，以及如何通过回溯找到所有解。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55-d2v63mtnfo2stf9dk52g.jpeg"/>
          <p:cNvPicPr>
            <a:picLocks noChangeAspect="1"/>
          </p:cNvPicPr>
          <p:nvPr/>
        </p:nvPicPr>
        <p:blipFill>
          <a:blip r:embed="rId1"/>
          <a:srcRect l="29542" r="29542"/>
          <a:stretch>
            <a:fillRect/>
          </a:stretch>
        </p:blipFill>
        <p:spPr>
          <a:xfrm>
            <a:off x="7973695" y="0"/>
            <a:ext cx="4218305" cy="687514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5180" y="3684270"/>
            <a:ext cx="7791450" cy="2379980"/>
          </a:xfrm>
          <a:prstGeom prst="rect">
            <a:avLst/>
          </a:prstGeom>
          <a:solidFill>
            <a:srgbClr val="015DBB"/>
          </a:solidFill>
          <a:ln w="19050">
            <a:solidFill>
              <a:srgbClr val="1E46E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05180" y="3684270"/>
            <a:ext cx="7791450" cy="23799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95630" y="525145"/>
            <a:ext cx="700468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首个解的搜索轨迹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3822" y="1544320"/>
            <a:ext cx="6261052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搜索轨迹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172845" y="2029460"/>
            <a:ext cx="6263005" cy="1468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高亮显示从根节点到第一个解的路径，记录每步的列选择和剪枝触发位置。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173943" y="3893820"/>
            <a:ext cx="7041223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解的验证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72845" y="4378960"/>
            <a:ext cx="7043420" cy="1468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验证第一个解的路径，确保所有皇后互不攻击，并统计访问的节点总数，验证剪枝的有效性。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7366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十大解展示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483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2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6:03-d2v63otnfo2stf9dk57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7780" y="3222625"/>
            <a:ext cx="7583170" cy="150558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6:03-d2v63otnfo2stf9dk57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7780" y="1482725"/>
            <a:ext cx="7583170" cy="150558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8-12:56:04-d2v63p5nfo2stf9dk5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30" y="4836160"/>
            <a:ext cx="10447020" cy="152971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8-12:56:05-d2v63pdnfo2stf9dk5a0.png"/>
          <p:cNvPicPr>
            <a:picLocks noChangeAspect="1"/>
          </p:cNvPicPr>
          <p:nvPr/>
        </p:nvPicPr>
        <p:blipFill>
          <a:blip r:embed="rId3"/>
          <a:srcRect l="106" r="106"/>
          <a:stretch>
            <a:fillRect/>
          </a:stretch>
        </p:blipFill>
        <p:spPr>
          <a:xfrm>
            <a:off x="937260" y="1459865"/>
            <a:ext cx="2700655" cy="320548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95630" y="525145"/>
            <a:ext cx="700468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解法一与对应叶节点</a:t>
            </a:r>
            <a:endParaRPr lang="en-US" sz="1600" dirty="0"/>
          </a:p>
        </p:txBody>
      </p:sp>
      <p:pic>
        <p:nvPicPr>
          <p:cNvPr id="7" name="Image 4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3933190" y="1586865"/>
            <a:ext cx="71501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解法一坐标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3933190" y="1960245"/>
            <a:ext cx="7302500" cy="9296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解法一的坐标序列为(1,3,5,2,4)，表示皇后在棋盘上的位置。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3933190" y="3300730"/>
            <a:ext cx="71501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棋盘布局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3933190" y="3674110"/>
            <a:ext cx="7302500" cy="9296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展示解法一的棋盘布局，用图标表示皇后的位置，确保所有皇后互不攻击。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1249763" y="5023485"/>
            <a:ext cx="9398635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叶节点位置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1249763" y="5396865"/>
            <a:ext cx="9985424" cy="6502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指出解法一在解空间树中的叶节点位置，说明该解是通过连续四次安全检测到达的。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t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40" y="2070100"/>
            <a:ext cx="7403465" cy="3652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5630" y="487045"/>
            <a:ext cx="700468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解法二至五快速浏览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8027035" y="850900"/>
            <a:ext cx="3446145" cy="268287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44260"/>
            <a:ext cx="12192635" cy="71374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5103475" y="2876550"/>
            <a:ext cx="4064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1303655" y="2437765"/>
            <a:ext cx="6536690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解法二至五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1303655" y="3002915"/>
            <a:ext cx="6536690" cy="2399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并列展示解法二至五的坐标序列和简要棋盘布局，说明这些解位于解空间树的不同子树。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6:09-d2v63qdnfo2stf9dk5d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230" y="1781810"/>
            <a:ext cx="2749550" cy="4273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5630" y="551815"/>
            <a:ext cx="700468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解法六至十与封闭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502603"/>
            <a:ext cx="579755" cy="65214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09-08-12:56:09-d2v63qdnfo2stf9dk5d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4380" y="1781810"/>
            <a:ext cx="2749550" cy="427355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8-12:56:09-d2v63qdnfo2stf9dk5d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260" y="1781810"/>
            <a:ext cx="2749550" cy="427355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9-08-12:56:09-d2v63qdnfo2stf9dk5d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8110" y="1781810"/>
            <a:ext cx="2749550" cy="427355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624840" y="1974215"/>
            <a:ext cx="1003300" cy="4953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624840" y="2521585"/>
            <a:ext cx="239331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解法六至十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624840" y="3229610"/>
            <a:ext cx="2393315" cy="26073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展示解法六至十的坐标序列，强调这些解是通过回溯算法找到的。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3475990" y="1974215"/>
            <a:ext cx="1003300" cy="4953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3475990" y="2521585"/>
            <a:ext cx="239331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解的完整性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3475990" y="3229610"/>
            <a:ext cx="2393315" cy="26073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验证解法六至十的正确性，确保所有皇后互不攻击。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6325870" y="1974215"/>
            <a:ext cx="1003300" cy="4953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6325870" y="2521585"/>
            <a:ext cx="239331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搜索空间封闭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6325870" y="3229610"/>
            <a:ext cx="2393315" cy="26073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说明在找到第十个解后，搜索空间被彻底遍历，无遗漏分支，证明算法的正确性。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9189720" y="1974215"/>
            <a:ext cx="1003300" cy="4953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9189720" y="2521585"/>
            <a:ext cx="239331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数据统计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9189720" y="3229610"/>
            <a:ext cx="2393315" cy="26073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统计所有解的总数，为后续的复杂度分析提供数据支持。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660265"/>
            <a:ext cx="12192635" cy="2197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2163" y="3239770"/>
            <a:ext cx="595693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复杂度与应用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332163" y="1433195"/>
            <a:ext cx="595693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9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g.png"/>
          <p:cNvPicPr>
            <a:picLocks noChangeAspect="1"/>
          </p:cNvPicPr>
          <p:nvPr/>
        </p:nvPicPr>
        <p:blipFill>
          <a:blip r:embed="rId2"/>
          <a:srcRect t="1192" b="1192"/>
          <a:stretch>
            <a:fillRect/>
          </a:stretch>
        </p:blipFill>
        <p:spPr>
          <a:xfrm>
            <a:off x="5251133" y="1950720"/>
            <a:ext cx="2118995" cy="1132205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533400" y="1191895"/>
            <a:ext cx="3402965" cy="2649220"/>
          </a:xfrm>
          <a:prstGeom prst="rect">
            <a:avLst/>
          </a:prstGeom>
        </p:spPr>
      </p:pic>
      <p:pic>
        <p:nvPicPr>
          <p:cNvPr id="7" name="Image 3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22162"/>
          <a:stretch>
            <a:fillRect/>
          </a:stretch>
        </p:blipFill>
        <p:spPr>
          <a:xfrm flipH="1">
            <a:off x="8581390" y="779780"/>
            <a:ext cx="3402965" cy="264922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55-d2v63mtnfo2stf9dk53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5595" y="1928495"/>
            <a:ext cx="4681855" cy="310896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5:55-d2v63mtnfo2stf9dk53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755" y="1928495"/>
            <a:ext cx="4681855" cy="3108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5630" y="525145"/>
            <a:ext cx="700468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时间空间复杂度总结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9-08-12:55:41-d2v63jdnfo2stf9dk4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5396230"/>
            <a:ext cx="12192635" cy="147066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189355" y="2105660"/>
            <a:ext cx="422211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时间复杂度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1189355" y="2559685"/>
            <a:ext cx="4224020" cy="23069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5皇后问题的理论时间复杂度为O(N!)，通过剪枝机制，实际运行时间显著减少，但仍保持阶乘级增长。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6764655" y="2105660"/>
            <a:ext cx="422211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空间复杂度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6764655" y="2559685"/>
            <a:ext cx="4224020" cy="23069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空间复杂度为O(N)，主要由递归栈的深度决定。在5皇后问题中，递归深度为5，因此空间复杂度较低。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6:04-d2v63p5nfo2stf9dk59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4975" y="1662430"/>
            <a:ext cx="3255010" cy="443801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8-12:56:04-d2v63p5nfo2stf9dk59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9445" y="1651000"/>
            <a:ext cx="3255010" cy="443801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8-12:56:04-d2v63p5nfo2stf9dk59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" y="1662430"/>
            <a:ext cx="3255010" cy="4438015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943100" y="1852930"/>
            <a:ext cx="1071880" cy="1072515"/>
          </a:xfrm>
          <a:prstGeom prst="ellipse">
            <a:avLst/>
          </a:prstGeom>
          <a:solidFill>
            <a:srgbClr val="015DBB"/>
          </a:solidFill>
        </p:spPr>
      </p:sp>
      <p:sp>
        <p:nvSpPr>
          <p:cNvPr id="6" name="Text 1"/>
          <p:cNvSpPr/>
          <p:nvPr/>
        </p:nvSpPr>
        <p:spPr>
          <a:xfrm>
            <a:off x="1943100" y="1852930"/>
            <a:ext cx="1071880" cy="10725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5540375" y="1852930"/>
            <a:ext cx="1071880" cy="1072515"/>
          </a:xfrm>
          <a:prstGeom prst="ellipse">
            <a:avLst/>
          </a:prstGeom>
          <a:solidFill>
            <a:srgbClr val="015DBB"/>
          </a:solidFill>
        </p:spPr>
      </p:sp>
      <p:sp>
        <p:nvSpPr>
          <p:cNvPr id="8" name="Text 3"/>
          <p:cNvSpPr/>
          <p:nvPr/>
        </p:nvSpPr>
        <p:spPr>
          <a:xfrm>
            <a:off x="5540375" y="1852930"/>
            <a:ext cx="1071880" cy="10725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9137650" y="1852930"/>
            <a:ext cx="1071880" cy="1072515"/>
          </a:xfrm>
          <a:prstGeom prst="ellipse">
            <a:avLst/>
          </a:prstGeom>
          <a:solidFill>
            <a:srgbClr val="015DBB"/>
          </a:solidFill>
        </p:spPr>
      </p:sp>
      <p:sp>
        <p:nvSpPr>
          <p:cNvPr id="10" name="Text 5"/>
          <p:cNvSpPr/>
          <p:nvPr/>
        </p:nvSpPr>
        <p:spPr>
          <a:xfrm>
            <a:off x="9137650" y="1852930"/>
            <a:ext cx="1071880" cy="10725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595630" y="525145"/>
            <a:ext cx="700468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N皇后问题应用场景</a:t>
            </a:r>
            <a:endParaRPr lang="en-US" sz="1600" dirty="0"/>
          </a:p>
        </p:txBody>
      </p:sp>
      <p:pic>
        <p:nvPicPr>
          <p:cNvPr id="12" name="Image 3" descr="https://kimi-img.moonshot.cn/pub/slides/slides_tmpl/image/25-09-08-12:55:42-d2v63jlnfo2stf9dk4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487045"/>
            <a:ext cx="579755" cy="6521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63585" y="1651000"/>
            <a:ext cx="4064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1982590" y="2076518"/>
            <a:ext cx="993526" cy="6453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106170" y="3067685"/>
            <a:ext cx="274637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任务调度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106170" y="3688715"/>
            <a:ext cx="2746375" cy="23279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N皇后问题的冲突模型可以应用于任务调度问题，通过回溯和剪枝思想优化任务分配，提高效率。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5579865" y="2076518"/>
            <a:ext cx="993526" cy="6453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703445" y="3067685"/>
            <a:ext cx="274637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资源分配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703445" y="3688715"/>
            <a:ext cx="2746375" cy="23279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在资源分配问题中，N皇后问题的模型可以用来优化资源分配方案，确保资源的合理利用。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9177140" y="2076518"/>
            <a:ext cx="993526" cy="6453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300720" y="3067685"/>
            <a:ext cx="2746375" cy="645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排课排班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300720" y="3688715"/>
            <a:ext cx="2746375" cy="23279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40404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N皇后问题还可以应用于排课排班等约束满足问题，通过回溯和剪枝思想找到最优解。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8-12:55:42-d2v63jlnfo2stf9dk4s0.jpg"/>
          <p:cNvPicPr>
            <a:picLocks noChangeAspect="1"/>
          </p:cNvPicPr>
          <p:nvPr/>
        </p:nvPicPr>
        <p:blipFill>
          <a:blip r:embed="rId1"/>
          <a:srcRect l="6625" t="8858" r="11055" b="15857"/>
          <a:stretch>
            <a:fillRect/>
          </a:stretch>
        </p:blipFill>
        <p:spPr>
          <a:xfrm rot="21600000">
            <a:off x="-21590" y="0"/>
            <a:ext cx="12213590" cy="68707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410" y="2195830"/>
            <a:ext cx="7026275" cy="1445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8800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0890" y="3501390"/>
            <a:ext cx="4716780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015DBB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WATCHING</a:t>
            </a:r>
            <a:endParaRPr lang="en-US" sz="1600" dirty="0"/>
          </a:p>
        </p:txBody>
      </p:sp>
      <p:pic>
        <p:nvPicPr>
          <p:cNvPr id="5" name="Image 1" descr="https://kimi-img.moonshot.cn/pub/slides/slides_tmpl/image/25-09-08-12:55:40-d2v63j5nfo2stf9dk4m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90" y="1730375"/>
            <a:ext cx="6468110" cy="2984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63600" y="4795520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</p:spPr>
      </p:sp>
      <p:sp>
        <p:nvSpPr>
          <p:cNvPr id="7" name="Text 3"/>
          <p:cNvSpPr/>
          <p:nvPr/>
        </p:nvSpPr>
        <p:spPr>
          <a:xfrm>
            <a:off x="863600" y="4795520"/>
            <a:ext cx="2179320" cy="502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28675" y="4847590"/>
            <a:ext cx="224980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汇报人:Kimi AI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519170" y="4795520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015DBB"/>
          </a:solidFill>
        </p:spPr>
      </p:sp>
      <p:sp>
        <p:nvSpPr>
          <p:cNvPr id="10" name="Text 6"/>
          <p:cNvSpPr/>
          <p:nvPr/>
        </p:nvSpPr>
        <p:spPr>
          <a:xfrm>
            <a:off x="3519170" y="4795520"/>
            <a:ext cx="2179320" cy="5029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484245" y="4847590"/>
            <a:ext cx="224980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时间:2025/01/01</a:t>
            </a:r>
            <a:endParaRPr lang="en-US" sz="1600" dirty="0"/>
          </a:p>
        </p:txBody>
      </p:sp>
      <p:pic>
        <p:nvPicPr>
          <p:cNvPr id="12" name="Image 2" descr="https://kimi-img.moonshot.cn/pub/slides/slides_tmpl/image/25-09-08-12:55:57-d2v63ndnfo2stf9dk540.png"/>
          <p:cNvPicPr>
            <a:picLocks noChangeAspect="1"/>
          </p:cNvPicPr>
          <p:nvPr/>
        </p:nvPicPr>
        <p:blipFill>
          <a:blip r:embed="rId3"/>
          <a:srcRect t="22162"/>
          <a:stretch>
            <a:fillRect/>
          </a:stretch>
        </p:blipFill>
        <p:spPr>
          <a:xfrm>
            <a:off x="7364095" y="1974850"/>
            <a:ext cx="4268470" cy="33235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46EB"/>
      </a:accent1>
      <a:accent2>
        <a:srgbClr val="1CA97E"/>
      </a:accent2>
      <a:accent3>
        <a:srgbClr val="5D91F0"/>
      </a:accent3>
      <a:accent4>
        <a:srgbClr val="000000"/>
      </a:accent4>
      <a:accent5>
        <a:srgbClr val="FFFFFF"/>
      </a:accent5>
      <a:accent6>
        <a:srgbClr val="FF9202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1916</Words>
  <Application>WPS 演示</Application>
  <PresentationFormat>On-screen Show (16:9)</PresentationFormat>
  <Paragraphs>246</Paragraphs>
  <Slides>24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5皇后回溯全景：解空间树与剪枝</dc:title>
  <dc:creator>Kimi</dc:creator>
  <dc:subject>5皇后回溯全景：解空间树与剪枝</dc:subject>
  <cp:lastModifiedBy>发v哈</cp:lastModifiedBy>
  <cp:revision>3</cp:revision>
  <dcterms:created xsi:type="dcterms:W3CDTF">2025-11-03T08:58:00Z</dcterms:created>
  <dcterms:modified xsi:type="dcterms:W3CDTF">2025-11-03T09:06:43Z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{"Label":"5皇后回溯全景：解空间树与剪枝","ContentProducer":"001191110108MACG2KBH8F10000","ProduceID":"d446s0f60ra18acrhsi0","ReservedCode1":"","ContentPropagator":"001191110108MACG2KBH8F20000","PropagateID":"d446s0f60ra18acrhsi0","ReservedCode2":""}</vt:lpwstr>
  </property>
  <property fmtid="{D5CDD505-2E9C-101B-9397-08002B2CF9AE}" pid="3" name="ICV">
    <vt:lpwstr>A7025C642B26432EB582D8F4BC66D1C0_12</vt:lpwstr>
  </property>
  <property fmtid="{D5CDD505-2E9C-101B-9397-08002B2CF9AE}" pid="4" name="KSOProductBuildVer">
    <vt:lpwstr>2052-12.1.0.23125</vt:lpwstr>
  </property>
</Properties>
</file>